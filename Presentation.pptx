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slideLayouts/slideLayout12.xml" ContentType="application/vnd.openxmlformats-officedocument.presentationml.slideLayout+xml"/>
  <Override PartName="/ppt/theme/theme12.xml" ContentType="application/vnd.openxmlformats-officedocument.theme+xml"/>
  <Override PartName="/ppt/theme/theme1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  <p:sldMasterId id="2147483670" r:id="rId12"/>
  </p:sldMasterIdLst>
  <p:notesMasterIdLst>
    <p:notesMasterId r:id="rId28"/>
  </p:notes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06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slide" Target="slides/slide14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9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5.xml"/><Relationship Id="rId25" Type="http://schemas.openxmlformats.org/officeDocument/2006/relationships/slide" Target="slides/slide1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4.xml"/><Relationship Id="rId20" Type="http://schemas.openxmlformats.org/officeDocument/2006/relationships/slide" Target="slides/slide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2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notesMaster" Target="notesMasters/notesMaster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7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slide" Target="slides/slide15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move the slide</a:t>
            </a:r>
          </a:p>
        </p:txBody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24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248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249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50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D9BC4908-F514-4CCB-8A07-29ADF1E809C0}" type="slidenum"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IN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755640" y="5145120"/>
            <a:ext cx="6048000" cy="420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IN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4"/>
          </p:nvPr>
        </p:nvSpPr>
        <p:spPr>
          <a:xfrm>
            <a:off x="4281480" y="10155240"/>
            <a:ext cx="3276360" cy="536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C19821-266A-46D4-A7B4-1AD08D69850C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4" name="PlaceHolder 4"/>
          <p:cNvSpPr>
            <a:spLocks noGrp="1"/>
          </p:cNvSpPr>
          <p:nvPr>
            <p:ph type="ftr" idx="5"/>
          </p:nvPr>
        </p:nvSpPr>
        <p:spPr>
          <a:xfrm>
            <a:off x="0" y="10155240"/>
            <a:ext cx="3276360" cy="536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Name of the faculty [Group: G00] [Sem:2nd]</a:t>
            </a:r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ln w="0">
            <a:noFill/>
          </a:ln>
        </p:spPr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755640" y="5145120"/>
            <a:ext cx="6048000" cy="420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 type="ftr" idx="6"/>
          </p:nvPr>
        </p:nvSpPr>
        <p:spPr>
          <a:xfrm>
            <a:off x="0" y="10155240"/>
            <a:ext cx="3276360" cy="536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Name of the faculty [Group: G00] [Sem:2nd]</a:t>
            </a:r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8" name="PlaceHolder 4"/>
          <p:cNvSpPr>
            <a:spLocks noGrp="1"/>
          </p:cNvSpPr>
          <p:nvPr>
            <p:ph type="sldNum" idx="7"/>
          </p:nvPr>
        </p:nvSpPr>
        <p:spPr>
          <a:xfrm>
            <a:off x="4281480" y="10155240"/>
            <a:ext cx="3276360" cy="536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700E9CD-1488-4724-AA65-66EE8EF3054C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8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62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mediaAndTx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98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4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44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e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jpe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jpe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jpeg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jpeg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.jpeg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jpeg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ustomShape 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CustomShape 2"/>
          <p:cNvSpPr/>
          <p:nvPr/>
        </p:nvSpPr>
        <p:spPr>
          <a:xfrm flipV="1">
            <a:off x="0" y="6704640"/>
            <a:ext cx="9143280" cy="19728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" name="Picture 10" descr="LOGO.gif"/>
          <p:cNvPicPr/>
          <p:nvPr/>
        </p:nvPicPr>
        <p:blipFill>
          <a:blip r:embed="rId3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3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6" name="Picture 9" descr="LOGO.gif"/>
            <p:cNvPicPr/>
            <p:nvPr/>
          </p:nvPicPr>
          <p:blipFill>
            <a:blip r:embed="rId3"/>
            <a:srcRect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8" name="Picture 15" descr="logo.jpg"/>
          <p:cNvPicPr/>
          <p:nvPr/>
        </p:nvPicPr>
        <p:blipFill>
          <a:blip r:embed="rId4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3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12" name="Picture 9" descr="LOGO.gif"/>
            <p:cNvPicPr/>
            <p:nvPr/>
          </p:nvPicPr>
          <p:blipFill>
            <a:blip r:embed="rId3"/>
            <a:srcRect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14" name="Picture 15" descr="logo.jpg"/>
          <p:cNvPicPr/>
          <p:nvPr/>
        </p:nvPicPr>
        <p:blipFill>
          <a:blip r:embed="rId4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ustomShape 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CustomShape 2"/>
          <p:cNvSpPr/>
          <p:nvPr/>
        </p:nvSpPr>
        <p:spPr>
          <a:xfrm flipV="1">
            <a:off x="0" y="6704640"/>
            <a:ext cx="9143280" cy="19728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9" name="Picture 10" descr="LOGO.gif"/>
          <p:cNvPicPr/>
          <p:nvPr/>
        </p:nvPicPr>
        <p:blipFill>
          <a:blip r:embed="rId3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pic>
        <p:nvPicPr>
          <p:cNvPr id="20" name="Picture 10" descr="LOGO.gif"/>
          <p:cNvPicPr/>
          <p:nvPr/>
        </p:nvPicPr>
        <p:blipFill>
          <a:blip r:embed="rId3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grpSp>
        <p:nvGrpSpPr>
          <p:cNvPr id="21" name="Group 3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22" name="CustomShape 4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23" name="Picture 9" descr="LOGO.gif"/>
            <p:cNvPicPr/>
            <p:nvPr/>
          </p:nvPicPr>
          <p:blipFill>
            <a:blip r:embed="rId3"/>
            <a:srcRect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24" name="CustomShape 5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25" name="Picture 15" descr="logo.jpg"/>
          <p:cNvPicPr/>
          <p:nvPr/>
        </p:nvPicPr>
        <p:blipFill>
          <a:blip r:embed="rId4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9360">
            <a:noFill/>
          </a:ln>
        </p:spPr>
      </p:pic>
      <p:pic>
        <p:nvPicPr>
          <p:cNvPr id="26" name="Picture 10" descr="LOGO.gif"/>
          <p:cNvPicPr/>
          <p:nvPr/>
        </p:nvPicPr>
        <p:blipFill>
          <a:blip r:embed="rId3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grpSp>
        <p:nvGrpSpPr>
          <p:cNvPr id="27" name="Group 6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28" name="CustomShape 7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29" name="Picture 9" descr="LOGO.gif"/>
            <p:cNvPicPr/>
            <p:nvPr/>
          </p:nvPicPr>
          <p:blipFill>
            <a:blip r:embed="rId3"/>
            <a:srcRect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30" name="CustomShape 8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31" name="Picture 15" descr="logo.jpg"/>
          <p:cNvPicPr/>
          <p:nvPr/>
        </p:nvPicPr>
        <p:blipFill>
          <a:blip r:embed="rId4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9360">
            <a:noFill/>
          </a:ln>
        </p:spPr>
      </p:pic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2845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88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2845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CustomShape 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CustomShape 2"/>
          <p:cNvSpPr/>
          <p:nvPr/>
        </p:nvSpPr>
        <p:spPr>
          <a:xfrm flipV="1">
            <a:off x="0" y="6704640"/>
            <a:ext cx="9143280" cy="19728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0" name="Picture 10" descr="LOGO.gif"/>
          <p:cNvPicPr/>
          <p:nvPr/>
        </p:nvPicPr>
        <p:blipFill>
          <a:blip r:embed="rId3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pic>
        <p:nvPicPr>
          <p:cNvPr id="41" name="Picture 10" descr="LOGO.gif"/>
          <p:cNvPicPr/>
          <p:nvPr/>
        </p:nvPicPr>
        <p:blipFill>
          <a:blip r:embed="rId3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grpSp>
        <p:nvGrpSpPr>
          <p:cNvPr id="42" name="Group 3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43" name="CustomShape 4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44" name="Picture 9" descr="LOGO.gif"/>
            <p:cNvPicPr/>
            <p:nvPr/>
          </p:nvPicPr>
          <p:blipFill>
            <a:blip r:embed="rId3"/>
            <a:srcRect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45" name="CustomShape 5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46" name="Picture 15" descr="logo.jpg"/>
          <p:cNvPicPr/>
          <p:nvPr/>
        </p:nvPicPr>
        <p:blipFill>
          <a:blip r:embed="rId4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9360">
            <a:noFill/>
          </a:ln>
        </p:spPr>
      </p:pic>
      <p:pic>
        <p:nvPicPr>
          <p:cNvPr id="47" name="Picture 10" descr="LOGO.gif"/>
          <p:cNvPicPr/>
          <p:nvPr/>
        </p:nvPicPr>
        <p:blipFill>
          <a:blip r:embed="rId3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grpSp>
        <p:nvGrpSpPr>
          <p:cNvPr id="48" name="Group 6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49" name="CustomShape 7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50" name="Picture 9" descr="LOGO.gif"/>
            <p:cNvPicPr/>
            <p:nvPr/>
          </p:nvPicPr>
          <p:blipFill>
            <a:blip r:embed="rId3"/>
            <a:srcRect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51" name="CustomShape 8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52" name="Picture 15" descr="logo.jpg"/>
          <p:cNvPicPr/>
          <p:nvPr/>
        </p:nvPicPr>
        <p:blipFill>
          <a:blip r:embed="rId4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9360">
            <a:noFill/>
          </a:ln>
        </p:spPr>
      </p:pic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9988" lnSpcReduction="2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9988" lnSpcReduction="2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9988" lnSpcReduction="2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9988" lnSpcReduction="2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CustomShape 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CustomShape 2"/>
          <p:cNvSpPr/>
          <p:nvPr/>
        </p:nvSpPr>
        <p:spPr>
          <a:xfrm flipV="1">
            <a:off x="0" y="6704640"/>
            <a:ext cx="9143280" cy="19728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5" name="Picture 10" descr="LOGO.gif"/>
          <p:cNvPicPr/>
          <p:nvPr/>
        </p:nvPicPr>
        <p:blipFill>
          <a:blip r:embed="rId3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pic>
        <p:nvPicPr>
          <p:cNvPr id="66" name="Picture 10" descr="LOGO.gif"/>
          <p:cNvPicPr/>
          <p:nvPr/>
        </p:nvPicPr>
        <p:blipFill>
          <a:blip r:embed="rId3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grpSp>
        <p:nvGrpSpPr>
          <p:cNvPr id="67" name="Group 3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68" name="CustomShape 4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69" name="Picture 9" descr="LOGO.gif"/>
            <p:cNvPicPr/>
            <p:nvPr/>
          </p:nvPicPr>
          <p:blipFill>
            <a:blip r:embed="rId3"/>
            <a:srcRect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0" name="CustomShape 5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71" name="Picture 15" descr="logo.jpg"/>
          <p:cNvPicPr/>
          <p:nvPr/>
        </p:nvPicPr>
        <p:blipFill>
          <a:blip r:embed="rId4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9360">
            <a:noFill/>
          </a:ln>
        </p:spPr>
      </p:pic>
      <p:pic>
        <p:nvPicPr>
          <p:cNvPr id="72" name="Picture 10" descr="LOGO.gif"/>
          <p:cNvPicPr/>
          <p:nvPr/>
        </p:nvPicPr>
        <p:blipFill>
          <a:blip r:embed="rId3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grpSp>
        <p:nvGrpSpPr>
          <p:cNvPr id="73" name="Group 6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74" name="CustomShape 7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75" name="Picture 9" descr="LOGO.gif"/>
            <p:cNvPicPr/>
            <p:nvPr/>
          </p:nvPicPr>
          <p:blipFill>
            <a:blip r:embed="rId3"/>
            <a:srcRect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6" name="CustomShape 8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77" name="Picture 15" descr="logo.jpg"/>
          <p:cNvPicPr/>
          <p:nvPr/>
        </p:nvPicPr>
        <p:blipFill>
          <a:blip r:embed="rId4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9360">
            <a:noFill/>
          </a:ln>
        </p:spPr>
      </p:pic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2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12497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2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12497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81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2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12497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82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2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12497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83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2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12497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84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2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12497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CustomShape 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CustomShape 2"/>
          <p:cNvSpPr/>
          <p:nvPr/>
        </p:nvSpPr>
        <p:spPr>
          <a:xfrm flipV="1">
            <a:off x="0" y="6704640"/>
            <a:ext cx="9143280" cy="19728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7" name="Picture 10" descr="LOGO.gif"/>
          <p:cNvPicPr/>
          <p:nvPr/>
        </p:nvPicPr>
        <p:blipFill>
          <a:blip r:embed="rId3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pic>
        <p:nvPicPr>
          <p:cNvPr id="88" name="Picture 10" descr="LOGO.gif"/>
          <p:cNvPicPr/>
          <p:nvPr/>
        </p:nvPicPr>
        <p:blipFill>
          <a:blip r:embed="rId3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grpSp>
        <p:nvGrpSpPr>
          <p:cNvPr id="89" name="Group 3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90" name="CustomShape 4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91" name="Picture 9" descr="LOGO.gif"/>
            <p:cNvPicPr/>
            <p:nvPr/>
          </p:nvPicPr>
          <p:blipFill>
            <a:blip r:embed="rId3"/>
            <a:srcRect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92" name="CustomShape 5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93" name="Picture 15" descr="logo.jpg"/>
          <p:cNvPicPr/>
          <p:nvPr/>
        </p:nvPicPr>
        <p:blipFill>
          <a:blip r:embed="rId4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9360">
            <a:noFill/>
          </a:ln>
        </p:spPr>
      </p:pic>
      <p:pic>
        <p:nvPicPr>
          <p:cNvPr id="94" name="Picture 10" descr="LOGO.gif"/>
          <p:cNvPicPr/>
          <p:nvPr/>
        </p:nvPicPr>
        <p:blipFill>
          <a:blip r:embed="rId3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grpSp>
        <p:nvGrpSpPr>
          <p:cNvPr id="95" name="Group 6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96" name="CustomShape 7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97" name="Picture 9" descr="LOGO.gif"/>
            <p:cNvPicPr/>
            <p:nvPr/>
          </p:nvPicPr>
          <p:blipFill>
            <a:blip r:embed="rId3"/>
            <a:srcRect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98" name="CustomShape 8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99" name="Picture 15" descr="logo.jpg"/>
          <p:cNvPicPr/>
          <p:nvPr/>
        </p:nvPicPr>
        <p:blipFill>
          <a:blip r:embed="rId4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9360">
            <a:noFill/>
          </a:ln>
        </p:spPr>
      </p:pic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CustomShape 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CustomShape 2"/>
          <p:cNvSpPr/>
          <p:nvPr/>
        </p:nvSpPr>
        <p:spPr>
          <a:xfrm flipV="1">
            <a:off x="0" y="6704640"/>
            <a:ext cx="9143280" cy="19728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6" name="Picture 10" descr="LOGO.gif"/>
          <p:cNvPicPr/>
          <p:nvPr/>
        </p:nvPicPr>
        <p:blipFill>
          <a:blip r:embed="rId3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pic>
        <p:nvPicPr>
          <p:cNvPr id="107" name="Picture 10" descr="LOGO.gif"/>
          <p:cNvPicPr/>
          <p:nvPr/>
        </p:nvPicPr>
        <p:blipFill>
          <a:blip r:embed="rId3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grpSp>
        <p:nvGrpSpPr>
          <p:cNvPr id="108" name="Group 3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09" name="CustomShape 4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110" name="Picture 9" descr="LOGO.gif"/>
            <p:cNvPicPr/>
            <p:nvPr/>
          </p:nvPicPr>
          <p:blipFill>
            <a:blip r:embed="rId3"/>
            <a:srcRect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11" name="CustomShape 5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112" name="Picture 15" descr="logo.jpg"/>
          <p:cNvPicPr/>
          <p:nvPr/>
        </p:nvPicPr>
        <p:blipFill>
          <a:blip r:embed="rId4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9360">
            <a:noFill/>
          </a:ln>
        </p:spPr>
      </p:pic>
      <p:pic>
        <p:nvPicPr>
          <p:cNvPr id="113" name="Picture 10" descr="LOGO.gif"/>
          <p:cNvPicPr/>
          <p:nvPr/>
        </p:nvPicPr>
        <p:blipFill>
          <a:blip r:embed="rId3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grpSp>
        <p:nvGrpSpPr>
          <p:cNvPr id="114" name="Group 6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15" name="CustomShape 7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116" name="Picture 9" descr="LOGO.gif"/>
            <p:cNvPicPr/>
            <p:nvPr/>
          </p:nvPicPr>
          <p:blipFill>
            <a:blip r:embed="rId3"/>
            <a:srcRect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17" name="CustomShape 8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118" name="Picture 15" descr="logo.jpg"/>
          <p:cNvPicPr/>
          <p:nvPr/>
        </p:nvPicPr>
        <p:blipFill>
          <a:blip r:embed="rId4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9360">
            <a:noFill/>
          </a:ln>
        </p:spPr>
      </p:pic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CustomShape 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CustomShape 2"/>
          <p:cNvSpPr/>
          <p:nvPr/>
        </p:nvSpPr>
        <p:spPr>
          <a:xfrm flipV="1">
            <a:off x="0" y="6704640"/>
            <a:ext cx="9143280" cy="19728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5" name="Picture 10" descr="LOGO.gif"/>
          <p:cNvPicPr/>
          <p:nvPr/>
        </p:nvPicPr>
        <p:blipFill>
          <a:blip r:embed="rId3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pic>
        <p:nvPicPr>
          <p:cNvPr id="126" name="Picture 10" descr="LOGO.gif"/>
          <p:cNvPicPr/>
          <p:nvPr/>
        </p:nvPicPr>
        <p:blipFill>
          <a:blip r:embed="rId3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grpSp>
        <p:nvGrpSpPr>
          <p:cNvPr id="127" name="Group 3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28" name="CustomShape 4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129" name="Picture 9" descr="LOGO.gif"/>
            <p:cNvPicPr/>
            <p:nvPr/>
          </p:nvPicPr>
          <p:blipFill>
            <a:blip r:embed="rId3"/>
            <a:srcRect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0" name="CustomShape 5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131" name="Picture 15" descr="logo.jpg"/>
          <p:cNvPicPr/>
          <p:nvPr/>
        </p:nvPicPr>
        <p:blipFill>
          <a:blip r:embed="rId4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9360">
            <a:noFill/>
          </a:ln>
        </p:spPr>
      </p:pic>
      <p:pic>
        <p:nvPicPr>
          <p:cNvPr id="132" name="Picture 10" descr="LOGO.gif"/>
          <p:cNvPicPr/>
          <p:nvPr/>
        </p:nvPicPr>
        <p:blipFill>
          <a:blip r:embed="rId3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grpSp>
        <p:nvGrpSpPr>
          <p:cNvPr id="133" name="Group 6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34" name="CustomShape 7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135" name="Picture 9" descr="LOGO.gif"/>
            <p:cNvPicPr/>
            <p:nvPr/>
          </p:nvPicPr>
          <p:blipFill>
            <a:blip r:embed="rId3"/>
            <a:srcRect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6" name="CustomShape 8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137" name="Picture 15" descr="logo.jpg"/>
          <p:cNvPicPr/>
          <p:nvPr/>
        </p:nvPicPr>
        <p:blipFill>
          <a:blip r:embed="rId4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9360">
            <a:noFill/>
          </a:ln>
        </p:spPr>
      </p:pic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1769" lnSpcReduction="1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4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1769" lnSpcReduction="1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CustomShape 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CustomShape 2"/>
          <p:cNvSpPr/>
          <p:nvPr/>
        </p:nvSpPr>
        <p:spPr>
          <a:xfrm flipV="1">
            <a:off x="0" y="6704640"/>
            <a:ext cx="9143280" cy="19728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6" name="Picture 10" descr="LOGO.gif"/>
          <p:cNvPicPr/>
          <p:nvPr/>
        </p:nvPicPr>
        <p:blipFill>
          <a:blip r:embed="rId3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pic>
        <p:nvPicPr>
          <p:cNvPr id="147" name="Picture 10" descr="LOGO.gif"/>
          <p:cNvPicPr/>
          <p:nvPr/>
        </p:nvPicPr>
        <p:blipFill>
          <a:blip r:embed="rId3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grpSp>
        <p:nvGrpSpPr>
          <p:cNvPr id="148" name="Group 3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49" name="CustomShape 4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150" name="Picture 9" descr="LOGO.gif"/>
            <p:cNvPicPr/>
            <p:nvPr/>
          </p:nvPicPr>
          <p:blipFill>
            <a:blip r:embed="rId3"/>
            <a:srcRect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51" name="CustomShape 5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152" name="Picture 15" descr="logo.jpg"/>
          <p:cNvPicPr/>
          <p:nvPr/>
        </p:nvPicPr>
        <p:blipFill>
          <a:blip r:embed="rId4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9360">
            <a:noFill/>
          </a:ln>
        </p:spPr>
      </p:pic>
      <p:pic>
        <p:nvPicPr>
          <p:cNvPr id="153" name="Picture 10" descr="LOGO.gif"/>
          <p:cNvPicPr/>
          <p:nvPr/>
        </p:nvPicPr>
        <p:blipFill>
          <a:blip r:embed="rId3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grpSp>
        <p:nvGrpSpPr>
          <p:cNvPr id="154" name="Group 6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55" name="CustomShape 7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156" name="Picture 9" descr="LOGO.gif"/>
            <p:cNvPicPr/>
            <p:nvPr/>
          </p:nvPicPr>
          <p:blipFill>
            <a:blip r:embed="rId3"/>
            <a:srcRect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57" name="CustomShape 8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158" name="Picture 15" descr="logo.jpg"/>
          <p:cNvPicPr/>
          <p:nvPr/>
        </p:nvPicPr>
        <p:blipFill>
          <a:blip r:embed="rId4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9360">
            <a:noFill/>
          </a:ln>
        </p:spPr>
      </p:pic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CustomShape 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CustomShape 2"/>
          <p:cNvSpPr/>
          <p:nvPr/>
        </p:nvSpPr>
        <p:spPr>
          <a:xfrm flipV="1">
            <a:off x="0" y="6704640"/>
            <a:ext cx="9143280" cy="19728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3" name="Picture 10" descr="LOGO.gif"/>
          <p:cNvPicPr/>
          <p:nvPr/>
        </p:nvPicPr>
        <p:blipFill>
          <a:blip r:embed="rId3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pic>
        <p:nvPicPr>
          <p:cNvPr id="164" name="Picture 10" descr="LOGO.gif"/>
          <p:cNvPicPr/>
          <p:nvPr/>
        </p:nvPicPr>
        <p:blipFill>
          <a:blip r:embed="rId3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grpSp>
        <p:nvGrpSpPr>
          <p:cNvPr id="165" name="Group 3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66" name="CustomShape 4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167" name="Picture 9" descr="LOGO.gif"/>
            <p:cNvPicPr/>
            <p:nvPr/>
          </p:nvPicPr>
          <p:blipFill>
            <a:blip r:embed="rId3"/>
            <a:srcRect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68" name="CustomShape 5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169" name="Picture 15" descr="logo.jpg"/>
          <p:cNvPicPr/>
          <p:nvPr/>
        </p:nvPicPr>
        <p:blipFill>
          <a:blip r:embed="rId4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9360">
            <a:noFill/>
          </a:ln>
        </p:spPr>
      </p:pic>
      <p:pic>
        <p:nvPicPr>
          <p:cNvPr id="170" name="Picture 10" descr="LOGO.gif"/>
          <p:cNvPicPr/>
          <p:nvPr/>
        </p:nvPicPr>
        <p:blipFill>
          <a:blip r:embed="rId3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grpSp>
        <p:nvGrpSpPr>
          <p:cNvPr id="171" name="Group 6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72" name="CustomShape 7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173" name="Picture 9" descr="LOGO.gif"/>
            <p:cNvPicPr/>
            <p:nvPr/>
          </p:nvPicPr>
          <p:blipFill>
            <a:blip r:embed="rId3"/>
            <a:srcRect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74" name="CustomShape 8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175" name="Picture 15" descr="logo.jpg"/>
          <p:cNvPicPr/>
          <p:nvPr/>
        </p:nvPicPr>
        <p:blipFill>
          <a:blip r:embed="rId4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936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CustomShape 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CustomShape 2"/>
          <p:cNvSpPr/>
          <p:nvPr/>
        </p:nvSpPr>
        <p:spPr>
          <a:xfrm flipV="1">
            <a:off x="0" y="6704640"/>
            <a:ext cx="9143280" cy="19728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8" name="Picture 10" descr="LOGO.gif"/>
          <p:cNvPicPr/>
          <p:nvPr/>
        </p:nvPicPr>
        <p:blipFill>
          <a:blip r:embed="rId3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pic>
        <p:nvPicPr>
          <p:cNvPr id="179" name="Picture 10" descr="LOGO.gif"/>
          <p:cNvPicPr/>
          <p:nvPr/>
        </p:nvPicPr>
        <p:blipFill>
          <a:blip r:embed="rId3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grpSp>
        <p:nvGrpSpPr>
          <p:cNvPr id="180" name="Group 3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81" name="CustomShape 4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182" name="Picture 9" descr="LOGO.gif"/>
            <p:cNvPicPr/>
            <p:nvPr/>
          </p:nvPicPr>
          <p:blipFill>
            <a:blip r:embed="rId3"/>
            <a:srcRect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83" name="CustomShape 5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184" name="Picture 15" descr="logo.jpg"/>
          <p:cNvPicPr/>
          <p:nvPr/>
        </p:nvPicPr>
        <p:blipFill>
          <a:blip r:embed="rId4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9360">
            <a:noFill/>
          </a:ln>
        </p:spPr>
      </p:pic>
      <p:pic>
        <p:nvPicPr>
          <p:cNvPr id="185" name="Picture 10" descr="LOGO.gif"/>
          <p:cNvPicPr/>
          <p:nvPr/>
        </p:nvPicPr>
        <p:blipFill>
          <a:blip r:embed="rId3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grpSp>
        <p:nvGrpSpPr>
          <p:cNvPr id="186" name="Group 6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87" name="CustomShape 7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188" name="Picture 9" descr="LOGO.gif"/>
            <p:cNvPicPr/>
            <p:nvPr/>
          </p:nvPicPr>
          <p:blipFill>
            <a:blip r:embed="rId3"/>
            <a:srcRect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89" name="CustomShape 8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190" name="Picture 15" descr="logo.jpg"/>
          <p:cNvPicPr/>
          <p:nvPr/>
        </p:nvPicPr>
        <p:blipFill>
          <a:blip r:embed="rId4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9360">
            <a:noFill/>
          </a:ln>
        </p:spPr>
      </p:pic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9988" lnSpcReduction="2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9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1769" lnSpcReduction="1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9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9988" lnSpcReduction="2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CustomShape 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CustomShape 2"/>
          <p:cNvSpPr/>
          <p:nvPr/>
        </p:nvSpPr>
        <p:spPr>
          <a:xfrm flipV="1">
            <a:off x="0" y="6704640"/>
            <a:ext cx="9143280" cy="19728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01" name="Picture 10" descr="LOGO.gif"/>
          <p:cNvPicPr/>
          <p:nvPr/>
        </p:nvPicPr>
        <p:blipFill>
          <a:blip r:embed="rId3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pic>
        <p:nvPicPr>
          <p:cNvPr id="202" name="Picture 10" descr="LOGO.gif"/>
          <p:cNvPicPr/>
          <p:nvPr/>
        </p:nvPicPr>
        <p:blipFill>
          <a:blip r:embed="rId3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grpSp>
        <p:nvGrpSpPr>
          <p:cNvPr id="203" name="Group 3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204" name="CustomShape 4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205" name="Picture 9" descr="LOGO.gif"/>
            <p:cNvPicPr/>
            <p:nvPr/>
          </p:nvPicPr>
          <p:blipFill>
            <a:blip r:embed="rId3"/>
            <a:srcRect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206" name="CustomShape 5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207" name="Picture 15" descr="logo.jpg"/>
          <p:cNvPicPr/>
          <p:nvPr/>
        </p:nvPicPr>
        <p:blipFill>
          <a:blip r:embed="rId4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9360">
            <a:noFill/>
          </a:ln>
        </p:spPr>
      </p:pic>
      <p:pic>
        <p:nvPicPr>
          <p:cNvPr id="208" name="Picture 10" descr="LOGO.gif"/>
          <p:cNvPicPr/>
          <p:nvPr/>
        </p:nvPicPr>
        <p:blipFill>
          <a:blip r:embed="rId3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grpSp>
        <p:nvGrpSpPr>
          <p:cNvPr id="209" name="Group 6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210" name="CustomShape 7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211" name="Picture 9" descr="LOGO.gif"/>
            <p:cNvPicPr/>
            <p:nvPr/>
          </p:nvPicPr>
          <p:blipFill>
            <a:blip r:embed="rId3"/>
            <a:srcRect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212" name="CustomShape 8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213" name="Picture 15" descr="logo.jpg"/>
          <p:cNvPicPr/>
          <p:nvPr/>
        </p:nvPicPr>
        <p:blipFill>
          <a:blip r:embed="rId4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9360">
            <a:noFill/>
          </a:ln>
        </p:spPr>
      </p:pic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1769" lnSpcReduction="1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21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9988" lnSpcReduction="2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217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9988" lnSpcReduction="2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CustomShape 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CustomShape 2"/>
          <p:cNvSpPr/>
          <p:nvPr/>
        </p:nvSpPr>
        <p:spPr>
          <a:xfrm flipV="1">
            <a:off x="0" y="6704640"/>
            <a:ext cx="9143280" cy="19728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4" name="Picture 10" descr="LOGO.gif"/>
          <p:cNvPicPr/>
          <p:nvPr/>
        </p:nvPicPr>
        <p:blipFill>
          <a:blip r:embed="rId3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pic>
        <p:nvPicPr>
          <p:cNvPr id="225" name="Picture 10" descr="LOGO.gif"/>
          <p:cNvPicPr/>
          <p:nvPr/>
        </p:nvPicPr>
        <p:blipFill>
          <a:blip r:embed="rId3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grpSp>
        <p:nvGrpSpPr>
          <p:cNvPr id="226" name="Group 3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227" name="CustomShape 4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228" name="Picture 9" descr="LOGO.gif"/>
            <p:cNvPicPr/>
            <p:nvPr/>
          </p:nvPicPr>
          <p:blipFill>
            <a:blip r:embed="rId3"/>
            <a:srcRect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229" name="CustomShape 5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230" name="Picture 15" descr="logo.jpg"/>
          <p:cNvPicPr/>
          <p:nvPr/>
        </p:nvPicPr>
        <p:blipFill>
          <a:blip r:embed="rId4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9360">
            <a:noFill/>
          </a:ln>
        </p:spPr>
      </p:pic>
      <p:pic>
        <p:nvPicPr>
          <p:cNvPr id="231" name="Picture 10" descr="LOGO.gif"/>
          <p:cNvPicPr/>
          <p:nvPr/>
        </p:nvPicPr>
        <p:blipFill>
          <a:blip r:embed="rId3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grpSp>
        <p:nvGrpSpPr>
          <p:cNvPr id="232" name="Group 6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233" name="CustomShape 7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234" name="Picture 9" descr="LOGO.gif"/>
            <p:cNvPicPr/>
            <p:nvPr/>
          </p:nvPicPr>
          <p:blipFill>
            <a:blip r:embed="rId3"/>
            <a:srcRect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235" name="CustomShape 8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236" name="Picture 15" descr="logo.jpg"/>
          <p:cNvPicPr/>
          <p:nvPr/>
        </p:nvPicPr>
        <p:blipFill>
          <a:blip r:embed="rId4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9360">
            <a:noFill/>
          </a:ln>
        </p:spPr>
      </p:pic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9988" lnSpcReduction="2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2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9988" lnSpcReduction="2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2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88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2845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TextShape 1"/>
          <p:cNvSpPr/>
          <p:nvPr/>
        </p:nvSpPr>
        <p:spPr>
          <a:xfrm>
            <a:off x="0" y="840600"/>
            <a:ext cx="9143640" cy="537696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spcBef>
                <a:spcPts val="400"/>
              </a:spcBef>
            </a:pPr>
            <a:r>
              <a:rPr lang="en-IN" sz="1800" b="1" strike="noStrike" spc="-1" dirty="0">
                <a:solidFill>
                  <a:schemeClr val="dk1"/>
                </a:solidFill>
                <a:latin typeface="Times New Roman"/>
                <a:ea typeface="Calibri"/>
              </a:rPr>
              <a:t>Project Presentation of </a:t>
            </a:r>
            <a:r>
              <a:rPr lang="en-US" sz="1800" b="1" strike="noStrike" spc="-1" dirty="0">
                <a:solidFill>
                  <a:schemeClr val="dk1"/>
                </a:solidFill>
                <a:latin typeface="Times New Roman"/>
                <a:ea typeface="Calibri"/>
              </a:rPr>
              <a:t>CO-OP Project at Industry (Module-2) </a:t>
            </a:r>
            <a:r>
              <a:rPr lang="en-IN" sz="1800" b="1" strike="noStrike" spc="-1" dirty="0">
                <a:solidFill>
                  <a:schemeClr val="dk1"/>
                </a:solidFill>
                <a:latin typeface="Times New Roman"/>
                <a:ea typeface="Calibri"/>
              </a:rPr>
              <a:t>(22CS421)</a:t>
            </a:r>
            <a:endParaRPr lang="en-IN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chemeClr val="dk1"/>
                </a:solidFill>
                <a:latin typeface="Times New Roman"/>
                <a:ea typeface="Calibri"/>
              </a:rPr>
              <a:t>On</a:t>
            </a:r>
          </a:p>
          <a:p>
            <a:pPr algn="ctr" defTabSz="914400">
              <a:lnSpc>
                <a:spcPct val="100000"/>
              </a:lnSpc>
              <a:spcBef>
                <a:spcPts val="400"/>
              </a:spcBef>
            </a:pPr>
            <a:endParaRPr lang="en-IN" sz="20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spcBef>
                <a:spcPts val="400"/>
              </a:spcBef>
            </a:pPr>
            <a:r>
              <a:rPr lang="en-US" sz="2000" dirty="0"/>
              <a:t>Use of Blockchain and DAO in Patent Application System in India </a:t>
            </a:r>
          </a:p>
          <a:p>
            <a:pPr algn="ctr">
              <a:spcBef>
                <a:spcPts val="400"/>
              </a:spcBef>
            </a:pPr>
            <a:br>
              <a:rPr sz="2000" dirty="0"/>
            </a:br>
            <a:r>
              <a:rPr lang="en-US" sz="2000" spc="-1" dirty="0">
                <a:solidFill>
                  <a:srgbClr val="000000"/>
                </a:solidFill>
                <a:latin typeface="Times New Roman"/>
                <a:ea typeface="MS PGothic"/>
              </a:rPr>
              <a:t>Shobit Garg</a:t>
            </a: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  <a:ea typeface="MS PGothic"/>
              </a:rPr>
              <a:t> (2210992335)</a:t>
            </a:r>
            <a:endParaRPr lang="en-IN" sz="2000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algn="ctr">
              <a:spcBef>
                <a:spcPts val="400"/>
              </a:spcBef>
            </a:pPr>
            <a:endParaRPr lang="en-IN" sz="2000" b="0" strike="noStrike" spc="-1" dirty="0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  <a:ea typeface="MS PGothic"/>
              </a:rPr>
              <a:t>Supervised By</a:t>
            </a:r>
            <a:endParaRPr lang="en-IN" sz="2000" b="0" strike="noStrike" spc="-1" dirty="0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400"/>
              </a:spcBef>
            </a:pPr>
            <a:r>
              <a:rPr lang="en-IN" sz="1800" b="1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Dr. Shyam Goyal</a:t>
            </a:r>
            <a:endParaRPr lang="en-IN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400"/>
              </a:spcBef>
            </a:pPr>
            <a:endParaRPr lang="en-IN" sz="2000" b="0" strike="noStrike" spc="-1" dirty="0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400"/>
              </a:spcBef>
            </a:pPr>
            <a:endParaRPr lang="en-IN" sz="2000" b="0" strike="noStrike" spc="-1" dirty="0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solidFill>
                  <a:schemeClr val="dk1"/>
                </a:solidFill>
                <a:latin typeface="Times New Roman"/>
                <a:ea typeface="MS PGothic"/>
              </a:rPr>
              <a:t>Department of Computer Science and Engineering, </a:t>
            </a:r>
            <a:endParaRPr lang="en-IN" sz="2400" b="0" strike="noStrike" spc="-1" dirty="0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solidFill>
                  <a:schemeClr val="dk1"/>
                </a:solidFill>
                <a:latin typeface="Times New Roman"/>
                <a:ea typeface="MS PGothic"/>
              </a:rPr>
              <a:t>Chitkara University, Punjab</a:t>
            </a:r>
            <a:endParaRPr lang="en-IN" sz="2400" b="0" strike="noStrike" spc="-1" dirty="0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50000"/>
              </a:lnSpc>
              <a:spcBef>
                <a:spcPts val="400"/>
              </a:spcBef>
            </a:pPr>
            <a:endParaRPr lang="en-IN" sz="20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41"/>
              </a:spcBef>
            </a:pPr>
            <a:endParaRPr lang="en-IN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IN" sz="3200" b="0" strike="noStrike" spc="-1">
                <a:solidFill>
                  <a:schemeClr val="dk1"/>
                </a:solidFill>
                <a:latin typeface="Times New Roman"/>
                <a:ea typeface="DejaVu Sans"/>
              </a:rPr>
              <a:t>Outline</a:t>
            </a: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53" name="PlaceHolder 2"/>
          <p:cNvSpPr>
            <a:spLocks noGrp="1"/>
          </p:cNvSpPr>
          <p:nvPr>
            <p:ph type="subTitle"/>
          </p:nvPr>
        </p:nvSpPr>
        <p:spPr>
          <a:xfrm>
            <a:off x="457200" y="1188000"/>
            <a:ext cx="6031800" cy="448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marL="457200" indent="-457200" defTabSz="914400">
              <a:lnSpc>
                <a:spcPct val="150000"/>
              </a:lnSpc>
              <a:buClr>
                <a:srgbClr val="000000"/>
              </a:buClr>
              <a:buFont typeface="Arial"/>
              <a:buAutoNum type="arabicPeriod"/>
            </a:pPr>
            <a:r>
              <a:rPr lang="en-US" sz="2400" b="0" strike="noStrike" spc="-1">
                <a:solidFill>
                  <a:schemeClr val="dk1"/>
                </a:solidFill>
                <a:latin typeface="Times New Roman"/>
                <a:ea typeface="DejaVu Sans"/>
              </a:rPr>
              <a:t>Introduction </a:t>
            </a:r>
            <a:endParaRPr lang="en-IN" sz="24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000000"/>
              </a:buClr>
              <a:buFont typeface="Arial"/>
              <a:buAutoNum type="arabicPeriod"/>
            </a:pPr>
            <a:r>
              <a:rPr lang="en-US" sz="2400" b="0" strike="noStrike" spc="-1">
                <a:solidFill>
                  <a:schemeClr val="dk1"/>
                </a:solidFill>
                <a:latin typeface="Times New Roman"/>
                <a:ea typeface="DejaVu Sans"/>
              </a:rPr>
              <a:t>Problem Identification </a:t>
            </a:r>
            <a:endParaRPr lang="en-IN" sz="24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000000"/>
              </a:buClr>
              <a:buFont typeface="Arial"/>
              <a:buAutoNum type="arabicPeriod"/>
            </a:pPr>
            <a:r>
              <a:rPr lang="en-US" sz="2400" b="0" strike="noStrike" spc="-1">
                <a:solidFill>
                  <a:schemeClr val="dk1"/>
                </a:solidFill>
                <a:latin typeface="Times New Roman"/>
                <a:ea typeface="DejaVu Sans"/>
              </a:rPr>
              <a:t>Literature Review </a:t>
            </a:r>
            <a:endParaRPr lang="en-IN" sz="24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000000"/>
              </a:buClr>
              <a:buFont typeface="Arial"/>
              <a:buAutoNum type="arabicPeriod"/>
            </a:pPr>
            <a:r>
              <a:rPr lang="en-US" sz="2400" b="0" strike="noStrike" spc="-1">
                <a:solidFill>
                  <a:schemeClr val="dk1"/>
                </a:solidFill>
                <a:latin typeface="Times New Roman"/>
                <a:ea typeface="DejaVu Sans"/>
              </a:rPr>
              <a:t>Algorithms Discussed </a:t>
            </a:r>
            <a:endParaRPr lang="en-IN" sz="24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000000"/>
              </a:buClr>
              <a:buFont typeface="Arial"/>
              <a:buAutoNum type="arabicPeriod"/>
            </a:pPr>
            <a:r>
              <a:rPr lang="en-US" sz="2400" b="0" strike="noStrike" spc="-1">
                <a:solidFill>
                  <a:schemeClr val="dk1"/>
                </a:solidFill>
                <a:latin typeface="Times New Roman"/>
                <a:ea typeface="DejaVu Sans"/>
              </a:rPr>
              <a:t>Proposed Methodology </a:t>
            </a:r>
            <a:endParaRPr lang="en-IN" sz="24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000000"/>
              </a:buClr>
              <a:buFont typeface="Arial"/>
              <a:buAutoNum type="arabicPeriod"/>
            </a:pPr>
            <a:r>
              <a:rPr lang="en-US" sz="2400" b="0" strike="noStrike" spc="-1">
                <a:solidFill>
                  <a:schemeClr val="dk1"/>
                </a:solidFill>
                <a:latin typeface="Times New Roman"/>
                <a:ea typeface="DejaVu Sans"/>
              </a:rPr>
              <a:t>Results and Discussion </a:t>
            </a:r>
            <a:endParaRPr lang="en-IN" sz="24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000000"/>
              </a:buClr>
              <a:buFont typeface="Arial"/>
              <a:buAutoNum type="arabicPeriod"/>
            </a:pPr>
            <a:r>
              <a:rPr lang="en-US" sz="2400" b="0" strike="noStrike" spc="-1">
                <a:solidFill>
                  <a:schemeClr val="dk1"/>
                </a:solidFill>
                <a:latin typeface="Times New Roman"/>
                <a:ea typeface="DejaVu Sans"/>
              </a:rPr>
              <a:t>Conclusion </a:t>
            </a:r>
            <a:endParaRPr lang="en-IN" sz="24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000000"/>
              </a:buClr>
              <a:buFont typeface="Arial"/>
              <a:buAutoNum type="arabicPeriod"/>
            </a:pPr>
            <a:r>
              <a:rPr lang="en-US" sz="2400" b="0" strike="noStrike" spc="-1">
                <a:solidFill>
                  <a:schemeClr val="dk1"/>
                </a:solidFill>
                <a:latin typeface="Times New Roman"/>
                <a:ea typeface="DejaVu Sans"/>
              </a:rPr>
              <a:t>References </a:t>
            </a:r>
            <a:endParaRPr lang="en-IN" sz="2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TextShape 1"/>
          <p:cNvSpPr/>
          <p:nvPr/>
        </p:nvSpPr>
        <p:spPr>
          <a:xfrm>
            <a:off x="-1565640" y="-16560"/>
            <a:ext cx="6019200" cy="83736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IN" sz="3200" b="0" strike="noStrike" spc="-1">
                <a:solidFill>
                  <a:schemeClr val="dk1"/>
                </a:solidFill>
                <a:latin typeface="Times New Roman"/>
                <a:ea typeface="DejaVu Sans"/>
              </a:rPr>
              <a:t>Introduction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Shape 3"/>
          <p:cNvSpPr/>
          <p:nvPr/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0197DC05-689A-4882-A307-EEB0BE7AA293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t>3</a:t>
            </a:fld>
            <a:endParaRPr lang="en-IN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Rectangle 5"/>
          <p:cNvSpPr/>
          <p:nvPr/>
        </p:nvSpPr>
        <p:spPr>
          <a:xfrm>
            <a:off x="146304" y="922486"/>
            <a:ext cx="8876736" cy="415498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numCol="1" spcCol="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Innovation depends on strong patent systems</a:t>
            </a:r>
          </a:p>
          <a:p>
            <a:pPr defTabSz="914400">
              <a:lnSpc>
                <a:spcPct val="100000"/>
              </a:lnSpc>
              <a:buClr>
                <a:srgbClr val="000000"/>
              </a:buClr>
              <a:tabLst>
                <a:tab pos="0" algn="l"/>
              </a:tabLst>
            </a:pPr>
            <a:endParaRPr lang="en-US" sz="2200" b="0" strike="noStrike" spc="-1" dirty="0">
              <a:solidFill>
                <a:schemeClr val="dk1"/>
              </a:solidFill>
              <a:latin typeface="Times New Roman"/>
              <a:ea typeface="DejaVu Sans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India has growing research output but fewer patents compared to US/China</a:t>
            </a:r>
          </a:p>
          <a:p>
            <a:pPr defTabSz="914400">
              <a:lnSpc>
                <a:spcPct val="100000"/>
              </a:lnSpc>
              <a:buClr>
                <a:srgbClr val="000000"/>
              </a:buClr>
              <a:tabLst>
                <a:tab pos="0" algn="l"/>
              </a:tabLst>
            </a:pPr>
            <a:endParaRPr lang="en-US" sz="2200" b="0" strike="noStrike" spc="-1" dirty="0">
              <a:solidFill>
                <a:schemeClr val="dk1"/>
              </a:solidFill>
              <a:latin typeface="Times New Roman"/>
              <a:ea typeface="DejaVu Sans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Current patent process is slow and resource-heavy</a:t>
            </a:r>
          </a:p>
          <a:p>
            <a:pPr defTabSz="914400">
              <a:lnSpc>
                <a:spcPct val="100000"/>
              </a:lnSpc>
              <a:buClr>
                <a:srgbClr val="000000"/>
              </a:buClr>
              <a:tabLst>
                <a:tab pos="0" algn="l"/>
              </a:tabLst>
            </a:pPr>
            <a:endParaRPr lang="en-US" sz="2200" b="0" strike="noStrike" spc="-1" dirty="0">
              <a:solidFill>
                <a:schemeClr val="dk1"/>
              </a:solidFill>
              <a:latin typeface="Times New Roman"/>
              <a:ea typeface="DejaVu Sans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Blockchain enables transparency, immutability, and efficiency</a:t>
            </a:r>
          </a:p>
          <a:p>
            <a:pPr defTabSz="914400">
              <a:lnSpc>
                <a:spcPct val="100000"/>
              </a:lnSpc>
              <a:buClr>
                <a:srgbClr val="000000"/>
              </a:buClr>
              <a:tabLst>
                <a:tab pos="0" algn="l"/>
              </a:tabLst>
            </a:pPr>
            <a:endParaRPr lang="en-US" sz="2200" b="0" strike="noStrike" spc="-1" dirty="0">
              <a:solidFill>
                <a:schemeClr val="dk1"/>
              </a:solidFill>
              <a:latin typeface="Times New Roman"/>
              <a:ea typeface="DejaVu Sans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DAO enables decentralized governance in patent decisions\</a:t>
            </a:r>
          </a:p>
          <a:p>
            <a:pPr defTabSz="914400">
              <a:lnSpc>
                <a:spcPct val="100000"/>
              </a:lnSpc>
              <a:buClr>
                <a:srgbClr val="000000"/>
              </a:buClr>
              <a:tabLst>
                <a:tab pos="0" algn="l"/>
              </a:tabLst>
            </a:pPr>
            <a:endParaRPr lang="en-US" sz="2200" b="0" strike="noStrike" spc="-1" dirty="0">
              <a:solidFill>
                <a:schemeClr val="dk1"/>
              </a:solidFill>
              <a:latin typeface="Times New Roman"/>
              <a:ea typeface="DejaVu Sans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This work proposes a Blockchain + DAO based patent system</a:t>
            </a: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title"/>
          </p:nvPr>
        </p:nvSpPr>
        <p:spPr>
          <a:xfrm>
            <a:off x="373680" y="167040"/>
            <a:ext cx="6007320" cy="520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IN" sz="3200" b="0" strike="noStrike" spc="-1">
                <a:solidFill>
                  <a:schemeClr val="dk1"/>
                </a:solidFill>
                <a:latin typeface="Times New Roman"/>
                <a:ea typeface="DejaVu Sans"/>
              </a:rPr>
              <a:t>Problem Identification</a:t>
            </a: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58" name="Rectangle 1"/>
          <p:cNvSpPr/>
          <p:nvPr/>
        </p:nvSpPr>
        <p:spPr>
          <a:xfrm>
            <a:off x="250560" y="781941"/>
            <a:ext cx="8642160" cy="52937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2400" dirty="0"/>
              <a:t>Patent approval takes ~50 months in India</a:t>
            </a:r>
          </a:p>
          <a:p>
            <a:pPr>
              <a:buClr>
                <a:srgbClr val="000000"/>
              </a:buClr>
              <a:tabLst>
                <a:tab pos="0" algn="l"/>
              </a:tabLst>
            </a:pPr>
            <a:r>
              <a:rPr lang="en-US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2400" dirty="0"/>
              <a:t>Limited number of patent examiners</a:t>
            </a:r>
          </a:p>
          <a:p>
            <a:pPr>
              <a:buClr>
                <a:srgbClr val="000000"/>
              </a:buClr>
              <a:tabLst>
                <a:tab pos="0" algn="l"/>
              </a:tabLst>
            </a:pPr>
            <a:r>
              <a:rPr lang="en-US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r>
              <a:rPr lang="en-US" sz="2400" dirty="0"/>
              <a:t>Lack of transparency and tracking</a:t>
            </a:r>
          </a:p>
          <a:p>
            <a:pPr>
              <a:buClr>
                <a:srgbClr val="000000"/>
              </a:buClr>
              <a:tabLst>
                <a:tab pos="0" algn="l"/>
              </a:tabLst>
            </a:pP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r>
              <a:rPr lang="en-US" sz="2400" dirty="0"/>
              <a:t>Risk of misuse and data tampering</a:t>
            </a:r>
          </a:p>
          <a:p>
            <a:pPr>
              <a:buClr>
                <a:srgbClr val="000000"/>
              </a:buClr>
              <a:tabLst>
                <a:tab pos="0" algn="l"/>
              </a:tabLst>
            </a:pP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Need for: </a:t>
            </a: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  <a:p>
            <a:pPr marL="800280" lvl="1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en-US" sz="2200" spc="-1" dirty="0">
                <a:solidFill>
                  <a:schemeClr val="dk1"/>
                </a:solidFill>
                <a:latin typeface="Times New Roman"/>
              </a:rPr>
              <a:t>Faster processing</a:t>
            </a: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  <a:p>
            <a:pPr marL="800280" lvl="1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en-US" sz="2200" spc="-1" dirty="0">
                <a:solidFill>
                  <a:schemeClr val="dk1"/>
                </a:solidFill>
                <a:latin typeface="Times New Roman"/>
                <a:ea typeface="DejaVu Sans"/>
              </a:rPr>
              <a:t>Transparency</a:t>
            </a:r>
            <a:r>
              <a:rPr lang="en-US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  <a:p>
            <a:pPr marL="800280" lvl="1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en-US" sz="2200" spc="-1" dirty="0">
                <a:solidFill>
                  <a:schemeClr val="dk1"/>
                </a:solidFill>
                <a:latin typeface="Times New Roman"/>
                <a:ea typeface="DejaVu Sans"/>
              </a:rPr>
              <a:t>Secure Ip management</a:t>
            </a:r>
            <a:r>
              <a:rPr lang="en-US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  <a:p>
            <a:pPr marL="800280" lvl="1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en-US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Scalable </a:t>
            </a:r>
            <a:r>
              <a:rPr lang="en-US" sz="2200" spc="-1" dirty="0">
                <a:solidFill>
                  <a:schemeClr val="dk1"/>
                </a:solidFill>
                <a:latin typeface="Times New Roman"/>
                <a:ea typeface="DejaVu Sans"/>
              </a:rPr>
              <a:t>system</a:t>
            </a: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BE412D-0050-FB72-8E21-5B86514DD2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61665"/>
            <a:ext cx="264816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20160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IN" sz="3200" b="0" strike="noStrike" spc="-1">
                <a:solidFill>
                  <a:schemeClr val="dk1"/>
                </a:solidFill>
                <a:latin typeface="Times New Roman"/>
                <a:ea typeface="DejaVu Sans"/>
              </a:rPr>
              <a:t>Literature Review</a:t>
            </a: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60" name="Rectangle 1"/>
          <p:cNvSpPr/>
          <p:nvPr/>
        </p:nvSpPr>
        <p:spPr>
          <a:xfrm>
            <a:off x="360000" y="1585431"/>
            <a:ext cx="8280000" cy="449353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ctr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IN" sz="2200" b="1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Previous Research Highlights:</a:t>
            </a: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Blockchain improves data security</a:t>
            </a: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2200" spc="-1" dirty="0">
                <a:solidFill>
                  <a:schemeClr val="dk1"/>
                </a:solidFill>
                <a:latin typeface="Times New Roman"/>
              </a:rPr>
              <a:t>DAO enables decentralized governance</a:t>
            </a: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2200" b="0" strike="noStrike" spc="-1" dirty="0">
                <a:solidFill>
                  <a:schemeClr val="dk1"/>
                </a:solidFill>
                <a:latin typeface="Times New Roman"/>
              </a:rPr>
              <a:t>Smart contracts automate workflows</a:t>
            </a: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2200" spc="-1" dirty="0">
                <a:solidFill>
                  <a:schemeClr val="dk1"/>
                </a:solidFill>
                <a:latin typeface="Times New Roman"/>
              </a:rPr>
              <a:t>NFTs enable digital ownership of IP</a:t>
            </a:r>
          </a:p>
          <a:p>
            <a:pPr defTabSz="914400">
              <a:lnSpc>
                <a:spcPct val="100000"/>
              </a:lnSpc>
              <a:buClr>
                <a:srgbClr val="000000"/>
              </a:buClr>
            </a:pP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2200" b="1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Research Gap:</a:t>
            </a: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r>
              <a:rPr lang="en-US" sz="2200" spc="-1" dirty="0">
                <a:solidFill>
                  <a:schemeClr val="dk1"/>
                </a:solidFill>
                <a:latin typeface="Times New Roman"/>
                <a:ea typeface="DejaVu Sans"/>
              </a:rPr>
              <a:t>No integrated system for India’s patent system.</a:t>
            </a: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2200" spc="-1" dirty="0">
                <a:solidFill>
                  <a:schemeClr val="dk1"/>
                </a:solidFill>
                <a:latin typeface="Times New Roman"/>
              </a:rPr>
              <a:t> DAO + Blockchain not combined practically</a:t>
            </a: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r>
              <a:rPr lang="en-US" sz="2200" spc="-1" dirty="0">
                <a:solidFill>
                  <a:schemeClr val="dk1"/>
                </a:solidFill>
                <a:latin typeface="Times New Roman"/>
                <a:ea typeface="DejaVu Sans"/>
              </a:rPr>
              <a:t>Lack of real implementation architecture</a:t>
            </a:r>
            <a:r>
              <a:rPr lang="en-US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304920" y="-7848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IN" sz="3200" b="0" strike="noStrike" spc="-1">
                <a:solidFill>
                  <a:schemeClr val="dk1"/>
                </a:solidFill>
                <a:latin typeface="Times New Roman"/>
                <a:ea typeface="DejaVu Sans"/>
              </a:rPr>
              <a:t>Literature Review (Contd.)</a:t>
            </a: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graphicFrame>
        <p:nvGraphicFramePr>
          <p:cNvPr id="262" name="Table 3"/>
          <p:cNvGraphicFramePr/>
          <p:nvPr>
            <p:extLst>
              <p:ext uri="{D42A27DB-BD31-4B8C-83A1-F6EECF244321}">
                <p14:modId xmlns:p14="http://schemas.microsoft.com/office/powerpoint/2010/main" val="2001565402"/>
              </p:ext>
            </p:extLst>
          </p:nvPr>
        </p:nvGraphicFramePr>
        <p:xfrm>
          <a:off x="692640" y="1305720"/>
          <a:ext cx="7727400" cy="3774600"/>
        </p:xfrm>
        <a:graphic>
          <a:graphicData uri="http://schemas.openxmlformats.org/drawingml/2006/table">
            <a:tbl>
              <a:tblPr/>
              <a:tblGrid>
                <a:gridCol w="257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7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4920">
                <a:tc>
                  <a:txBody>
                    <a:bodyPr/>
                    <a:lstStyle/>
                    <a:p>
                      <a:pPr defTabSz="914400">
                        <a:lnSpc>
                          <a:spcPct val="200000"/>
                        </a:lnSpc>
                      </a:pPr>
                      <a:r>
                        <a:rPr lang="en-IN" sz="1800" b="1" strike="noStrike" spc="-1">
                          <a:solidFill>
                            <a:schemeClr val="lt1"/>
                          </a:solidFill>
                          <a:latin typeface="Times New Roman"/>
                          <a:ea typeface="DejaVu Sans"/>
                        </a:rPr>
                        <a:t>Author</a:t>
                      </a:r>
                      <a:endParaRPr lang="en-IN" sz="18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endParaRPr lang="en-IN" sz="18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IN" sz="1800" b="1" strike="noStrike" spc="-1">
                          <a:solidFill>
                            <a:schemeClr val="lt1"/>
                          </a:solidFill>
                          <a:latin typeface="Arial"/>
                          <a:ea typeface="DejaVu Sans"/>
                        </a:rPr>
                        <a:t>Method</a:t>
                      </a:r>
                      <a:endParaRPr lang="en-IN" sz="18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endParaRPr lang="en-IN" sz="18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IN" sz="1800" b="1" strike="noStrike" spc="-1">
                          <a:solidFill>
                            <a:schemeClr val="lt1"/>
                          </a:solidFill>
                          <a:latin typeface="Arial"/>
                          <a:ea typeface="DejaVu Sans"/>
                        </a:rPr>
                        <a:t>Limitation</a:t>
                      </a:r>
                      <a:endParaRPr lang="en-IN" sz="18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49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IN" sz="1800" b="0" strike="noStrike" spc="-1" dirty="0">
                          <a:solidFill>
                            <a:schemeClr val="dk1"/>
                          </a:solidFill>
                          <a:latin typeface="Times New Roman"/>
                        </a:rPr>
                        <a:t>Liu et al.</a:t>
                      </a:r>
                      <a:endParaRPr lang="en-IN" sz="18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IN" sz="1800" b="0" strike="noStrike" spc="-1" dirty="0">
                          <a:solidFill>
                            <a:schemeClr val="dk1"/>
                          </a:solidFill>
                          <a:latin typeface="Times New Roman"/>
                        </a:rPr>
                        <a:t>DAO overview</a:t>
                      </a:r>
                      <a:endParaRPr lang="en-IN" sz="18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IN" sz="1800" b="0" strike="noStrike" spc="-1" dirty="0">
                          <a:solidFill>
                            <a:schemeClr val="dk1"/>
                          </a:solidFill>
                          <a:latin typeface="Times New Roman"/>
                        </a:rPr>
                        <a:t>No patent focus</a:t>
                      </a:r>
                      <a:endParaRPr lang="en-IN" sz="18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49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IN" sz="1800" b="0" strike="noStrike" spc="-1" dirty="0">
                          <a:solidFill>
                            <a:schemeClr val="dk1"/>
                          </a:solidFill>
                          <a:latin typeface="Times New Roman"/>
                          <a:ea typeface="DejaVu Sans"/>
                        </a:rPr>
                        <a:t>Diallo et al.</a:t>
                      </a:r>
                      <a:endParaRPr lang="en-IN" sz="18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IN" sz="1800" b="0" strike="noStrike" spc="-1" dirty="0">
                          <a:solidFill>
                            <a:schemeClr val="dk1"/>
                          </a:solidFill>
                          <a:latin typeface="Times New Roman"/>
                        </a:rPr>
                        <a:t>Gov + DAO</a:t>
                      </a:r>
                      <a:endParaRPr lang="en-IN" sz="18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IN" sz="1800" b="0" strike="noStrike" spc="-1" dirty="0">
                          <a:solidFill>
                            <a:schemeClr val="dk1"/>
                          </a:solidFill>
                          <a:latin typeface="Times New Roman"/>
                        </a:rPr>
                        <a:t>Not India specific</a:t>
                      </a:r>
                      <a:endParaRPr lang="en-IN" sz="18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49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IN" sz="1800" b="0" strike="noStrike" spc="-1" dirty="0">
                          <a:solidFill>
                            <a:schemeClr val="dk1"/>
                          </a:solidFill>
                          <a:latin typeface="Times New Roman"/>
                          <a:ea typeface="DejaVu Sans"/>
                        </a:rPr>
                        <a:t>Dwivedi</a:t>
                      </a:r>
                      <a:r>
                        <a:rPr lang="en-IN" sz="1800" b="0" strike="noStrike" spc="-1" dirty="0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 et al.</a:t>
                      </a:r>
                      <a:endParaRPr lang="en-IN" sz="18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IN" sz="1800" b="0" strike="noStrike" spc="-1" dirty="0">
                          <a:solidFill>
                            <a:schemeClr val="dk1"/>
                          </a:solidFill>
                          <a:latin typeface="Times New Roman"/>
                        </a:rPr>
                        <a:t>Smart contacts</a:t>
                      </a:r>
                      <a:endParaRPr lang="en-IN" sz="18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IN" sz="1800" b="0" strike="noStrike" spc="-1" dirty="0">
                          <a:solidFill>
                            <a:schemeClr val="dk1"/>
                          </a:solidFill>
                          <a:latin typeface="Times New Roman"/>
                        </a:rPr>
                        <a:t>No full system</a:t>
                      </a:r>
                      <a:endParaRPr lang="en-IN" sz="18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49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IN" sz="1800" b="0" strike="noStrike" spc="-1" dirty="0">
                          <a:solidFill>
                            <a:schemeClr val="dk1"/>
                          </a:solidFill>
                          <a:latin typeface="Times New Roman"/>
                        </a:rPr>
                        <a:t>Kale</a:t>
                      </a:r>
                      <a:endParaRPr lang="en-IN" sz="18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IN" sz="1800" b="0" strike="noStrike" spc="-1" dirty="0">
                          <a:solidFill>
                            <a:schemeClr val="dk1"/>
                          </a:solidFill>
                          <a:latin typeface="Times New Roman"/>
                        </a:rPr>
                        <a:t>Patent law study</a:t>
                      </a:r>
                      <a:endParaRPr lang="en-IN" sz="18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IN" sz="1800" b="0" strike="noStrike" spc="-1" dirty="0">
                          <a:solidFill>
                            <a:schemeClr val="dk1"/>
                          </a:solidFill>
                          <a:latin typeface="Times New Roman"/>
                        </a:rPr>
                        <a:t>No tech integration</a:t>
                      </a:r>
                      <a:endParaRPr lang="en-IN" sz="18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title"/>
          </p:nvPr>
        </p:nvSpPr>
        <p:spPr>
          <a:xfrm>
            <a:off x="24588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IN" sz="3200" b="0" strike="noStrike" spc="-1">
                <a:solidFill>
                  <a:schemeClr val="dk1"/>
                </a:solidFill>
                <a:latin typeface="Times New Roman"/>
                <a:ea typeface="DejaVu Sans"/>
              </a:rPr>
              <a:t>Algorithms Discussed</a:t>
            </a: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64" name="TextBox 5"/>
          <p:cNvSpPr/>
          <p:nvPr/>
        </p:nvSpPr>
        <p:spPr>
          <a:xfrm>
            <a:off x="560520" y="1116000"/>
            <a:ext cx="7521480" cy="516919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IN" sz="2200" b="1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Algorithm 1: </a:t>
            </a:r>
            <a:r>
              <a:rPr lang="en-IN" sz="2200" b="1" spc="-1" dirty="0">
                <a:solidFill>
                  <a:schemeClr val="dk1"/>
                </a:solidFill>
                <a:latin typeface="Times New Roman"/>
                <a:ea typeface="DejaVu Sans"/>
              </a:rPr>
              <a:t>Blockchain</a:t>
            </a: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Feature extraction through convolution layers </a:t>
            </a: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Pooling for dimensionality reduction </a:t>
            </a: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Fully connected layers for classification </a:t>
            </a: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2200" b="1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Algorithm 2: </a:t>
            </a:r>
            <a:r>
              <a:rPr lang="en-IN" sz="2200" b="1" spc="-1" dirty="0">
                <a:solidFill>
                  <a:schemeClr val="dk1"/>
                </a:solidFill>
                <a:latin typeface="Times New Roman"/>
                <a:ea typeface="DejaVu Sans"/>
              </a:rPr>
              <a:t>DAO</a:t>
            </a: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Rotation </a:t>
            </a: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Flipping </a:t>
            </a: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Scaling </a:t>
            </a: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Improves dataset diversity </a:t>
            </a: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2200" b="1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Algorithm 3: </a:t>
            </a:r>
            <a:r>
              <a:rPr lang="en-IN" sz="2200" b="1" spc="-1" dirty="0">
                <a:solidFill>
                  <a:schemeClr val="dk1"/>
                </a:solidFill>
                <a:latin typeface="Times New Roman"/>
                <a:ea typeface="DejaVu Sans"/>
              </a:rPr>
              <a:t>Smart contracts</a:t>
            </a: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Histogram of Oriented Gradients (HOG) </a:t>
            </a: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r>
              <a:rPr lang="en-IN" sz="2200" b="0" strike="noStrike" spc="-1" dirty="0" err="1">
                <a:solidFill>
                  <a:schemeClr val="dk1"/>
                </a:solidFill>
                <a:latin typeface="Times New Roman"/>
                <a:ea typeface="DejaVu Sans"/>
              </a:rPr>
              <a:t>Color</a:t>
            </a:r>
            <a:r>
              <a:rPr lang="en-IN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Histograms </a:t>
            </a: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Disease symptom pattern analysis</a:t>
            </a: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title"/>
          </p:nvPr>
        </p:nvSpPr>
        <p:spPr>
          <a:xfrm>
            <a:off x="19656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IN" sz="3200" b="0" strike="noStrike" spc="-1">
                <a:solidFill>
                  <a:schemeClr val="dk1"/>
                </a:solidFill>
                <a:latin typeface="Times New Roman"/>
                <a:ea typeface="DejaVu Sans"/>
              </a:rPr>
              <a:t>Proposed Methodology</a:t>
            </a: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66" name="TextBox 4"/>
          <p:cNvSpPr/>
          <p:nvPr/>
        </p:nvSpPr>
        <p:spPr>
          <a:xfrm>
            <a:off x="196560" y="1325880"/>
            <a:ext cx="8583120" cy="38149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IN" sz="2200" b="1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System Workflow:</a:t>
            </a: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lang="en-IN" sz="2200" spc="-1" dirty="0">
                <a:solidFill>
                  <a:schemeClr val="dk1"/>
                </a:solidFill>
                <a:latin typeface="Times New Roman"/>
                <a:ea typeface="DejaVu Sans"/>
              </a:rPr>
              <a:t>Patent submission</a:t>
            </a:r>
            <a:r>
              <a:rPr lang="en-IN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lang="en-IN" sz="2200" spc="-1" dirty="0">
                <a:solidFill>
                  <a:schemeClr val="dk1"/>
                </a:solidFill>
                <a:latin typeface="Times New Roman"/>
              </a:rPr>
              <a:t>SHA - 256</a:t>
            </a: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lang="en-IN" sz="2200" b="0" strike="noStrike" spc="-1" dirty="0">
                <a:solidFill>
                  <a:schemeClr val="dk1"/>
                </a:solidFill>
                <a:latin typeface="Times New Roman"/>
              </a:rPr>
              <a:t>Hash creation</a:t>
            </a: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lang="en-IN" sz="2200" spc="-1" dirty="0">
                <a:solidFill>
                  <a:schemeClr val="dk1"/>
                </a:solidFill>
                <a:latin typeface="Times New Roman"/>
              </a:rPr>
              <a:t>Storage on IPFS</a:t>
            </a: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lang="en-IN" sz="2200" spc="-1" dirty="0">
                <a:solidFill>
                  <a:schemeClr val="dk1"/>
                </a:solidFill>
                <a:latin typeface="Times New Roman"/>
              </a:rPr>
              <a:t>DAO voting </a:t>
            </a: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lang="en-IN" sz="2200" spc="-1" dirty="0">
                <a:solidFill>
                  <a:schemeClr val="dk1"/>
                </a:solidFill>
                <a:latin typeface="Times New Roman"/>
              </a:rPr>
              <a:t> Approval via smart contract</a:t>
            </a: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lang="en-IN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NFT minting for granted </a:t>
            </a:r>
            <a:r>
              <a:rPr lang="en-IN" sz="2200" spc="-1" dirty="0">
                <a:solidFill>
                  <a:schemeClr val="dk1"/>
                </a:solidFill>
                <a:latin typeface="Times New Roman"/>
                <a:ea typeface="DejaVu Sans"/>
              </a:rPr>
              <a:t>patent</a:t>
            </a: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2200" b="1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Objective:</a:t>
            </a: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2200" spc="-1" dirty="0">
                <a:solidFill>
                  <a:schemeClr val="dk1"/>
                </a:solidFill>
                <a:latin typeface="Times New Roman"/>
              </a:rPr>
              <a:t>Transparent + automated patent system</a:t>
            </a: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20160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IN" sz="3200" b="0" strike="noStrike" spc="-1">
                <a:solidFill>
                  <a:schemeClr val="dk1"/>
                </a:solidFill>
                <a:latin typeface="Times New Roman"/>
                <a:ea typeface="DejaVu Sans"/>
              </a:rPr>
              <a:t>Proposed System Design</a:t>
            </a: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68" name="TextBox 4"/>
          <p:cNvSpPr/>
          <p:nvPr/>
        </p:nvSpPr>
        <p:spPr>
          <a:xfrm>
            <a:off x="373680" y="1582920"/>
            <a:ext cx="8769960" cy="3106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IN" sz="2200" b="1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Framework Components:</a:t>
            </a: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Sugarcane Leaf Image Dataset </a:t>
            </a: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Image Resizing and Normalization  </a:t>
            </a: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CNN Feature Extraction  </a:t>
            </a: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Handcrafted Feature Fusion </a:t>
            </a: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Spectral Imaging Enhancement </a:t>
            </a: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Classification into Disease Categories </a:t>
            </a: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Performance Evaluation</a:t>
            </a: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26532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IN" sz="3200" b="0" strike="noStrike" spc="-1">
                <a:solidFill>
                  <a:schemeClr val="dk1"/>
                </a:solidFill>
                <a:latin typeface="Times New Roman"/>
                <a:ea typeface="DejaVu Sans"/>
              </a:rPr>
              <a:t>Results and Performance</a:t>
            </a: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70" name="TextBox 6"/>
          <p:cNvSpPr/>
          <p:nvPr/>
        </p:nvSpPr>
        <p:spPr>
          <a:xfrm>
            <a:off x="639000" y="1455120"/>
            <a:ext cx="7668720" cy="41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IN" sz="2200" b="1" strike="noStrike" spc="-1">
                <a:solidFill>
                  <a:schemeClr val="dk1"/>
                </a:solidFill>
                <a:latin typeface="Times New Roman"/>
                <a:ea typeface="DejaVu Sans"/>
              </a:rPr>
              <a:t>Training Metrics:</a:t>
            </a:r>
            <a:endParaRPr lang="en-IN" sz="2200" b="0" strike="noStrike" spc="-1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2200" b="0" strike="noStrike" spc="-1">
                <a:solidFill>
                  <a:schemeClr val="dk1"/>
                </a:solidFill>
                <a:latin typeface="Times New Roman"/>
                <a:ea typeface="DejaVu Sans"/>
              </a:rPr>
              <a:t> Training Accuracy: </a:t>
            </a:r>
            <a:r>
              <a:rPr lang="en-IN" sz="2200" b="1" strike="noStrike" spc="-1">
                <a:solidFill>
                  <a:schemeClr val="dk1"/>
                </a:solidFill>
                <a:latin typeface="Times New Roman"/>
                <a:ea typeface="DejaVu Sans"/>
              </a:rPr>
              <a:t>99.90%</a:t>
            </a:r>
            <a:r>
              <a:rPr lang="en-IN" sz="2200" b="0" strike="noStrike" spc="-1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endParaRPr lang="en-IN" sz="2200" b="0" strike="noStrike" spc="-1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2200" b="0" strike="noStrike" spc="-1">
                <a:solidFill>
                  <a:schemeClr val="dk1"/>
                </a:solidFill>
                <a:latin typeface="Times New Roman"/>
                <a:ea typeface="DejaVu Sans"/>
              </a:rPr>
              <a:t> Training Loss: </a:t>
            </a:r>
            <a:r>
              <a:rPr lang="en-IN" sz="2200" b="1" strike="noStrike" spc="-1">
                <a:solidFill>
                  <a:schemeClr val="dk1"/>
                </a:solidFill>
                <a:latin typeface="Times New Roman"/>
                <a:ea typeface="DejaVu Sans"/>
              </a:rPr>
              <a:t>0.2592</a:t>
            </a:r>
            <a:r>
              <a:rPr lang="en-IN" sz="2200" b="0" strike="noStrike" spc="-1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endParaRPr lang="en-IN" sz="2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IN" sz="2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2200" b="1" strike="noStrike" spc="-1">
                <a:solidFill>
                  <a:schemeClr val="dk1"/>
                </a:solidFill>
                <a:latin typeface="Times New Roman"/>
                <a:ea typeface="DejaVu Sans"/>
              </a:rPr>
              <a:t>Validation Metrics:</a:t>
            </a:r>
            <a:endParaRPr lang="en-IN" sz="2200" b="0" strike="noStrike" spc="-1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2200" b="0" strike="noStrike" spc="-1">
                <a:solidFill>
                  <a:schemeClr val="dk1"/>
                </a:solidFill>
                <a:latin typeface="Times New Roman"/>
                <a:ea typeface="DejaVu Sans"/>
              </a:rPr>
              <a:t> Validation Accuracy: </a:t>
            </a:r>
            <a:r>
              <a:rPr lang="en-IN" sz="2200" b="1" strike="noStrike" spc="-1">
                <a:solidFill>
                  <a:schemeClr val="dk1"/>
                </a:solidFill>
                <a:latin typeface="Times New Roman"/>
                <a:ea typeface="DejaVu Sans"/>
              </a:rPr>
              <a:t>93.27%</a:t>
            </a:r>
            <a:r>
              <a:rPr lang="en-IN" sz="2200" b="0" strike="noStrike" spc="-1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endParaRPr lang="en-IN" sz="2200" b="0" strike="noStrike" spc="-1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2200" b="0" strike="noStrike" spc="-1">
                <a:solidFill>
                  <a:schemeClr val="dk1"/>
                </a:solidFill>
                <a:latin typeface="Times New Roman"/>
                <a:ea typeface="DejaVu Sans"/>
              </a:rPr>
              <a:t> Validation Loss: </a:t>
            </a:r>
            <a:r>
              <a:rPr lang="en-IN" sz="2200" b="1" strike="noStrike" spc="-1">
                <a:solidFill>
                  <a:schemeClr val="dk1"/>
                </a:solidFill>
                <a:latin typeface="Times New Roman"/>
                <a:ea typeface="DejaVu Sans"/>
              </a:rPr>
              <a:t>0.4949</a:t>
            </a:r>
            <a:r>
              <a:rPr lang="en-IN" sz="2200" b="0" strike="noStrike" spc="-1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endParaRPr lang="en-IN" sz="2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IN" sz="2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2200" b="1" strike="noStrike" spc="-1">
                <a:solidFill>
                  <a:schemeClr val="dk1"/>
                </a:solidFill>
                <a:latin typeface="Times New Roman"/>
                <a:ea typeface="DejaVu Sans"/>
              </a:rPr>
              <a:t>Observation:</a:t>
            </a:r>
            <a:endParaRPr lang="en-IN" sz="2200" b="0" strike="noStrike" spc="-1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2200" b="0" strike="noStrike" spc="-1">
                <a:solidFill>
                  <a:schemeClr val="dk1"/>
                </a:solidFill>
                <a:latin typeface="Times New Roman"/>
                <a:ea typeface="DejaVu Sans"/>
              </a:rPr>
              <a:t> High model precision </a:t>
            </a:r>
            <a:endParaRPr lang="en-IN" sz="2200" b="0" strike="noStrike" spc="-1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2200" b="0" strike="noStrike" spc="-1">
                <a:solidFill>
                  <a:schemeClr val="dk1"/>
                </a:solidFill>
                <a:latin typeface="Times New Roman"/>
                <a:ea typeface="DejaVu Sans"/>
              </a:rPr>
              <a:t> Strong generalization </a:t>
            </a:r>
            <a:endParaRPr lang="en-IN" sz="2200" b="0" strike="noStrike" spc="-1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2200" b="0" strike="noStrike" spc="-1">
                <a:solidFill>
                  <a:schemeClr val="dk1"/>
                </a:solidFill>
                <a:latin typeface="Times New Roman"/>
                <a:ea typeface="DejaVu Sans"/>
              </a:rPr>
              <a:t> Minimal overfitting due to dropout + augmentation</a:t>
            </a:r>
            <a:endParaRPr lang="en-IN" sz="2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title"/>
          </p:nvPr>
        </p:nvSpPr>
        <p:spPr>
          <a:xfrm>
            <a:off x="32436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IN" sz="3200" b="0" strike="noStrike" spc="-1">
                <a:solidFill>
                  <a:schemeClr val="dk1"/>
                </a:solidFill>
                <a:latin typeface="Times New Roman"/>
                <a:ea typeface="DejaVu Sans"/>
              </a:rPr>
              <a:t>Classification Results</a:t>
            </a: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72" name="TextBox 4"/>
          <p:cNvSpPr/>
          <p:nvPr/>
        </p:nvSpPr>
        <p:spPr>
          <a:xfrm>
            <a:off x="471960" y="1406160"/>
            <a:ext cx="7246080" cy="344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200" b="1" strike="noStrike" spc="-1">
                <a:solidFill>
                  <a:schemeClr val="dk1"/>
                </a:solidFill>
                <a:latin typeface="Times New Roman"/>
                <a:ea typeface="DejaVu Sans"/>
              </a:rPr>
              <a:t>Disease-wise Performance:</a:t>
            </a:r>
            <a:endParaRPr lang="en-IN" sz="2200" b="0" strike="noStrike" spc="-1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200" b="0" strike="noStrike" spc="-1">
                <a:solidFill>
                  <a:schemeClr val="dk1"/>
                </a:solidFill>
                <a:latin typeface="Times New Roman"/>
                <a:ea typeface="DejaVu Sans"/>
              </a:rPr>
              <a:t> Healthy Leaves: Precision 95%, Recall 97% </a:t>
            </a:r>
            <a:endParaRPr lang="en-IN" sz="2200" b="0" strike="noStrike" spc="-1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200" b="0" strike="noStrike" spc="-1">
                <a:solidFill>
                  <a:schemeClr val="dk1"/>
                </a:solidFill>
                <a:latin typeface="Times New Roman"/>
                <a:ea typeface="DejaVu Sans"/>
              </a:rPr>
              <a:t> Mosaic Disease: Precision 90%, Recall 98% </a:t>
            </a:r>
            <a:endParaRPr lang="en-IN" sz="2200" b="0" strike="noStrike" spc="-1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200" b="0" strike="noStrike" spc="-1">
                <a:solidFill>
                  <a:schemeClr val="dk1"/>
                </a:solidFill>
                <a:latin typeface="Times New Roman"/>
                <a:ea typeface="DejaVu Sans"/>
              </a:rPr>
              <a:t> Red Rot: Precision 95%, Recall 89% </a:t>
            </a:r>
            <a:endParaRPr lang="en-IN" sz="2200" b="0" strike="noStrike" spc="-1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200" b="0" strike="noStrike" spc="-1">
                <a:solidFill>
                  <a:schemeClr val="dk1"/>
                </a:solidFill>
                <a:latin typeface="Times New Roman"/>
                <a:ea typeface="DejaVu Sans"/>
              </a:rPr>
              <a:t> Rust: Precision 96%, Recall 92% </a:t>
            </a:r>
            <a:endParaRPr lang="en-IN" sz="2200" b="0" strike="noStrike" spc="-1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200" b="0" strike="noStrike" spc="-1">
                <a:solidFill>
                  <a:schemeClr val="dk1"/>
                </a:solidFill>
                <a:latin typeface="Times New Roman"/>
                <a:ea typeface="DejaVu Sans"/>
              </a:rPr>
              <a:t> Yellow Disease: Precision 94%, Recall 97% </a:t>
            </a:r>
            <a:endParaRPr lang="en-IN" sz="2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IN" sz="2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200" b="1" strike="noStrike" spc="-1">
                <a:solidFill>
                  <a:schemeClr val="dk1"/>
                </a:solidFill>
                <a:latin typeface="Times New Roman"/>
                <a:ea typeface="DejaVu Sans"/>
              </a:rPr>
              <a:t>Key Insight:</a:t>
            </a:r>
            <a:endParaRPr lang="en-IN" sz="2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strike="noStrike" spc="-1">
                <a:solidFill>
                  <a:schemeClr val="dk1"/>
                </a:solidFill>
                <a:latin typeface="Times New Roman"/>
                <a:ea typeface="DejaVu Sans"/>
              </a:rPr>
              <a:t>Model performs strongly across classes with room for Red Rot optimization.</a:t>
            </a:r>
            <a:endParaRPr lang="en-IN" sz="2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title"/>
          </p:nvPr>
        </p:nvSpPr>
        <p:spPr>
          <a:xfrm>
            <a:off x="24588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IN" sz="3200" b="0" strike="noStrike" spc="-1">
                <a:solidFill>
                  <a:schemeClr val="dk1"/>
                </a:solidFill>
                <a:latin typeface="Times New Roman"/>
                <a:ea typeface="DejaVu Sans"/>
              </a:rPr>
              <a:t>Discussion</a:t>
            </a: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74" name="TextBox 4"/>
          <p:cNvSpPr/>
          <p:nvPr/>
        </p:nvSpPr>
        <p:spPr>
          <a:xfrm>
            <a:off x="471960" y="1455120"/>
            <a:ext cx="6373440" cy="344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IN" sz="2200" b="1" strike="noStrike" spc="-1">
                <a:solidFill>
                  <a:schemeClr val="dk1"/>
                </a:solidFill>
                <a:latin typeface="Times New Roman"/>
                <a:ea typeface="DejaVu Sans"/>
              </a:rPr>
              <a:t>Strengths:</a:t>
            </a:r>
            <a:endParaRPr lang="en-IN" sz="2200" b="0" strike="noStrike" spc="-1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2200" b="0" strike="noStrike" spc="-1">
                <a:solidFill>
                  <a:schemeClr val="dk1"/>
                </a:solidFill>
                <a:latin typeface="Times New Roman"/>
                <a:ea typeface="DejaVu Sans"/>
              </a:rPr>
              <a:t> Multi-branch CNN architecture </a:t>
            </a:r>
            <a:endParaRPr lang="en-IN" sz="2200" b="0" strike="noStrike" spc="-1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2200" b="0" strike="noStrike" spc="-1">
                <a:solidFill>
                  <a:schemeClr val="dk1"/>
                </a:solidFill>
                <a:latin typeface="Times New Roman"/>
                <a:ea typeface="DejaVu Sans"/>
              </a:rPr>
              <a:t> Spectral + RGB integration </a:t>
            </a:r>
            <a:endParaRPr lang="en-IN" sz="2200" b="0" strike="noStrike" spc="-1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2200" b="0" strike="noStrike" spc="-1">
                <a:solidFill>
                  <a:schemeClr val="dk1"/>
                </a:solidFill>
                <a:latin typeface="Times New Roman"/>
                <a:ea typeface="DejaVu Sans"/>
              </a:rPr>
              <a:t> High precision and recall </a:t>
            </a:r>
            <a:endParaRPr lang="en-IN" sz="2200" b="0" strike="noStrike" spc="-1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2200" b="0" strike="noStrike" spc="-1">
                <a:solidFill>
                  <a:schemeClr val="dk1"/>
                </a:solidFill>
                <a:latin typeface="Times New Roman"/>
                <a:ea typeface="DejaVu Sans"/>
              </a:rPr>
              <a:t> Cost-effective agricultural application</a:t>
            </a:r>
            <a:endParaRPr lang="en-IN" sz="2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2200" b="0" strike="noStrike" spc="-1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endParaRPr lang="en-IN" sz="2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2200" b="1" strike="noStrike" spc="-1">
                <a:solidFill>
                  <a:schemeClr val="dk1"/>
                </a:solidFill>
                <a:latin typeface="Times New Roman"/>
                <a:ea typeface="DejaVu Sans"/>
              </a:rPr>
              <a:t>Challenges:</a:t>
            </a:r>
            <a:endParaRPr lang="en-IN" sz="2200" b="0" strike="noStrike" spc="-1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2200" b="0" strike="noStrike" spc="-1">
                <a:solidFill>
                  <a:schemeClr val="dk1"/>
                </a:solidFill>
                <a:latin typeface="Times New Roman"/>
                <a:ea typeface="DejaVu Sans"/>
              </a:rPr>
              <a:t> Red Rot classification slightly weaker </a:t>
            </a:r>
            <a:endParaRPr lang="en-IN" sz="2200" b="0" strike="noStrike" spc="-1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2200" b="0" strike="noStrike" spc="-1">
                <a:solidFill>
                  <a:schemeClr val="dk1"/>
                </a:solidFill>
                <a:latin typeface="Times New Roman"/>
                <a:ea typeface="DejaVu Sans"/>
              </a:rPr>
              <a:t> Requires larger, diverse datasets </a:t>
            </a:r>
            <a:endParaRPr lang="en-IN" sz="2200" b="0" strike="noStrike" spc="-1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2200" b="0" strike="noStrike" spc="-1">
                <a:solidFill>
                  <a:schemeClr val="dk1"/>
                </a:solidFill>
                <a:latin typeface="Times New Roman"/>
                <a:ea typeface="DejaVu Sans"/>
              </a:rPr>
              <a:t> Future integration with mobile systems</a:t>
            </a:r>
            <a:endParaRPr lang="en-IN" sz="2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18684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IN" sz="3200" b="0" strike="noStrike" spc="-1">
                <a:solidFill>
                  <a:schemeClr val="dk1"/>
                </a:solidFill>
                <a:latin typeface="Times New Roman"/>
                <a:ea typeface="DejaVu Sans"/>
              </a:rPr>
              <a:t>Conclusion</a:t>
            </a: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76" name="TextBox 4"/>
          <p:cNvSpPr/>
          <p:nvPr/>
        </p:nvSpPr>
        <p:spPr>
          <a:xfrm>
            <a:off x="324360" y="1480680"/>
            <a:ext cx="7560720" cy="420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1800" b="0" strike="noStrike" spc="-1">
                <a:solidFill>
                  <a:schemeClr val="dk1"/>
                </a:solidFill>
                <a:latin typeface="Times New Roman"/>
                <a:ea typeface="DejaVu Sans"/>
              </a:rPr>
              <a:t> CNN + Feature Extraction significantly improves sugarcane disease diagnosis. </a:t>
            </a:r>
            <a:endParaRPr lang="en-IN" sz="18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1800" b="0" strike="noStrike" spc="-1">
                <a:solidFill>
                  <a:schemeClr val="dk1"/>
                </a:solidFill>
                <a:latin typeface="Times New Roman"/>
                <a:ea typeface="DejaVu Sans"/>
              </a:rPr>
              <a:t> Validation accuracy of </a:t>
            </a:r>
            <a:r>
              <a:rPr lang="en-IN" sz="1800" b="1" strike="noStrike" spc="-1">
                <a:solidFill>
                  <a:schemeClr val="dk1"/>
                </a:solidFill>
                <a:latin typeface="Times New Roman"/>
                <a:ea typeface="DejaVu Sans"/>
              </a:rPr>
              <a:t>93.27%</a:t>
            </a:r>
            <a:r>
              <a:rPr lang="en-IN" sz="1800" b="0" strike="noStrike" spc="-1">
                <a:solidFill>
                  <a:schemeClr val="dk1"/>
                </a:solidFill>
                <a:latin typeface="Times New Roman"/>
                <a:ea typeface="DejaVu Sans"/>
              </a:rPr>
              <a:t> demonstrates practical viability. </a:t>
            </a:r>
            <a:endParaRPr lang="en-IN" sz="18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1800" b="0" strike="noStrike" spc="-1">
                <a:solidFill>
                  <a:schemeClr val="dk1"/>
                </a:solidFill>
                <a:latin typeface="Times New Roman"/>
                <a:ea typeface="DejaVu Sans"/>
              </a:rPr>
              <a:t> Supports precision agriculture and crop sustainability. </a:t>
            </a:r>
            <a:endParaRPr lang="en-IN" sz="18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1800" b="0" strike="noStrike" spc="-1">
                <a:solidFill>
                  <a:schemeClr val="dk1"/>
                </a:solidFill>
                <a:latin typeface="Times New Roman"/>
                <a:ea typeface="DejaVu Sans"/>
              </a:rPr>
              <a:t> Enables: </a:t>
            </a:r>
            <a:endParaRPr lang="en-IN" sz="1800" b="0" strike="noStrike" spc="-1">
              <a:solidFill>
                <a:srgbClr val="000000"/>
              </a:solidFill>
              <a:latin typeface="Arial"/>
            </a:endParaRPr>
          </a:p>
          <a:p>
            <a:pPr marL="800280" lvl="1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lang="en-IN" sz="1800" b="0" strike="noStrike" spc="-1">
                <a:solidFill>
                  <a:schemeClr val="dk1"/>
                </a:solidFill>
                <a:latin typeface="Times New Roman"/>
                <a:ea typeface="DejaVu Sans"/>
              </a:rPr>
              <a:t>Early diagnosis </a:t>
            </a:r>
            <a:endParaRPr lang="en-IN" sz="1800" b="0" strike="noStrike" spc="-1">
              <a:solidFill>
                <a:srgbClr val="000000"/>
              </a:solidFill>
              <a:latin typeface="Arial"/>
            </a:endParaRPr>
          </a:p>
          <a:p>
            <a:pPr marL="800280" lvl="1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lang="en-IN" sz="1800" b="0" strike="noStrike" spc="-1">
                <a:solidFill>
                  <a:schemeClr val="dk1"/>
                </a:solidFill>
                <a:latin typeface="Times New Roman"/>
                <a:ea typeface="DejaVu Sans"/>
              </a:rPr>
              <a:t>Reduced crop loss </a:t>
            </a:r>
            <a:endParaRPr lang="en-IN" sz="1800" b="0" strike="noStrike" spc="-1">
              <a:solidFill>
                <a:srgbClr val="000000"/>
              </a:solidFill>
              <a:latin typeface="Arial"/>
            </a:endParaRPr>
          </a:p>
          <a:p>
            <a:pPr marL="800280" lvl="1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lang="en-IN" sz="1800" b="0" strike="noStrike" spc="-1">
                <a:solidFill>
                  <a:schemeClr val="dk1"/>
                </a:solidFill>
                <a:latin typeface="Times New Roman"/>
                <a:ea typeface="DejaVu Sans"/>
              </a:rPr>
              <a:t>Increased farmer profitability </a:t>
            </a:r>
            <a:endParaRPr lang="en-IN" sz="1800" b="0" strike="noStrike" spc="-1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1800" b="1" strike="noStrike" spc="-1">
                <a:solidFill>
                  <a:schemeClr val="dk1"/>
                </a:solidFill>
                <a:latin typeface="Times New Roman"/>
                <a:ea typeface="DejaVu Sans"/>
              </a:rPr>
              <a:t>Future Scope:</a:t>
            </a:r>
            <a:endParaRPr lang="en-IN" sz="1800" b="0" strike="noStrike" spc="-1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1800" b="0" strike="noStrike" spc="-1">
                <a:solidFill>
                  <a:schemeClr val="dk1"/>
                </a:solidFill>
                <a:latin typeface="Times New Roman"/>
                <a:ea typeface="DejaVu Sans"/>
              </a:rPr>
              <a:t> Mobile deployment </a:t>
            </a:r>
            <a:endParaRPr lang="en-IN" sz="1800" b="0" strike="noStrike" spc="-1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1800" b="0" strike="noStrike" spc="-1">
                <a:solidFill>
                  <a:schemeClr val="dk1"/>
                </a:solidFill>
                <a:latin typeface="Times New Roman"/>
                <a:ea typeface="DejaVu Sans"/>
              </a:rPr>
              <a:t> Real-time field detection </a:t>
            </a:r>
            <a:endParaRPr lang="en-IN" sz="1800" b="0" strike="noStrike" spc="-1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1800" b="0" strike="noStrike" spc="-1">
                <a:solidFill>
                  <a:schemeClr val="dk1"/>
                </a:solidFill>
                <a:latin typeface="Times New Roman"/>
                <a:ea typeface="DejaVu Sans"/>
              </a:rPr>
              <a:t> IoT integration</a:t>
            </a:r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20664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IN" sz="3200" b="0" strike="noStrike" spc="-1">
                <a:solidFill>
                  <a:schemeClr val="dk1"/>
                </a:solidFill>
                <a:latin typeface="Times New Roman"/>
                <a:ea typeface="DejaVu Sans"/>
              </a:rPr>
              <a:t>References</a:t>
            </a: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78" name="Rectangle 2"/>
          <p:cNvSpPr/>
          <p:nvPr/>
        </p:nvSpPr>
        <p:spPr>
          <a:xfrm>
            <a:off x="68760" y="1332360"/>
            <a:ext cx="9281160" cy="2101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2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2200" b="0" strike="noStrike" spc="-1">
                <a:solidFill>
                  <a:schemeClr val="dk1"/>
                </a:solidFill>
                <a:latin typeface="Times New Roman"/>
                <a:ea typeface="DejaVu Sans"/>
              </a:rPr>
              <a:t> E. K. Ratnasari et al., Sugarcane Leaf Disease Detection, ICTS 2014 </a:t>
            </a:r>
            <a:endParaRPr lang="en-IN" sz="2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2200" b="0" strike="noStrike" spc="-1">
                <a:solidFill>
                  <a:schemeClr val="dk1"/>
                </a:solidFill>
                <a:latin typeface="Times New Roman"/>
                <a:ea typeface="DejaVu Sans"/>
              </a:rPr>
              <a:t> Militante et al., Sugarcane Disease Recognition using Deep Learning, 2019 </a:t>
            </a:r>
            <a:endParaRPr lang="en-IN" sz="2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2200" b="0" strike="noStrike" spc="-1">
                <a:solidFill>
                  <a:schemeClr val="dk1"/>
                </a:solidFill>
                <a:latin typeface="Times New Roman"/>
                <a:ea typeface="DejaVu Sans"/>
              </a:rPr>
              <a:t> U. Vignesh et al., CNN-SVM Weighted Ensemble Learning, 2023 </a:t>
            </a:r>
            <a:endParaRPr lang="en-IN" sz="2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2200" b="0" strike="noStrike" spc="-1">
                <a:solidFill>
                  <a:schemeClr val="dk1"/>
                </a:solidFill>
                <a:latin typeface="Times New Roman"/>
                <a:ea typeface="DejaVu Sans"/>
              </a:rPr>
              <a:t> K. Rajput et al., CNN-SVM Fusion, 2024 </a:t>
            </a:r>
            <a:endParaRPr lang="en-IN" sz="2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2200" b="0" strike="noStrike" spc="-1">
                <a:solidFill>
                  <a:schemeClr val="dk1"/>
                </a:solidFill>
                <a:latin typeface="Times New Roman"/>
                <a:ea typeface="DejaVu Sans"/>
              </a:rPr>
              <a:t> Murugeswari et al., Faster R-CNN Android Detection, 2022 </a:t>
            </a:r>
            <a:endParaRPr lang="en-IN" sz="2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TextShape 1"/>
          <p:cNvSpPr/>
          <p:nvPr/>
        </p:nvSpPr>
        <p:spPr>
          <a:xfrm>
            <a:off x="1297440" y="2821680"/>
            <a:ext cx="6705360" cy="141048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" sz="5400" b="0" strike="noStrike" spc="-1">
                <a:solidFill>
                  <a:schemeClr val="dk1"/>
                </a:solidFill>
                <a:latin typeface="Times New Roman"/>
                <a:ea typeface="DejaVu Sans"/>
              </a:rPr>
              <a:t>Thank You</a:t>
            </a:r>
            <a:endParaRPr lang="en-IN" sz="5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TextShape 3"/>
          <p:cNvSpPr/>
          <p:nvPr/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8CC3F7EF-31B3-467F-9207-A55C03D5F15B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t>15</a:t>
            </a:fld>
            <a:endParaRPr lang="en-IN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34785</TotalTime>
  <Words>694</Words>
  <Application>Microsoft Office PowerPoint</Application>
  <PresentationFormat>On-screen Show (4:3)</PresentationFormat>
  <Paragraphs>183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12</vt:i4>
      </vt:variant>
      <vt:variant>
        <vt:lpstr>Slide Titles</vt:lpstr>
      </vt:variant>
      <vt:variant>
        <vt:i4>15</vt:i4>
      </vt:variant>
    </vt:vector>
  </HeadingPairs>
  <TitlesOfParts>
    <vt:vector size="32" baseType="lpstr">
      <vt:lpstr>Arial</vt:lpstr>
      <vt:lpstr>Calibri</vt:lpstr>
      <vt:lpstr>Symbol</vt:lpstr>
      <vt:lpstr>Times New Roman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PowerPoint Presentation</vt:lpstr>
      <vt:lpstr>Outline</vt:lpstr>
      <vt:lpstr>PowerPoint Presentation</vt:lpstr>
      <vt:lpstr>Problem Identification</vt:lpstr>
      <vt:lpstr>Literature Review</vt:lpstr>
      <vt:lpstr>Literature Review (Contd.)</vt:lpstr>
      <vt:lpstr>Algorithms Discussed</vt:lpstr>
      <vt:lpstr>Proposed Methodology</vt:lpstr>
      <vt:lpstr>Proposed System Design</vt:lpstr>
      <vt:lpstr>Results and Performance</vt:lpstr>
      <vt:lpstr>Classification Results</vt:lpstr>
      <vt:lpstr>Discussion</vt:lpstr>
      <vt:lpstr>Conclusion</vt:lpstr>
      <vt:lpstr>References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>ABC</dc:creator>
  <dc:description/>
  <cp:lastModifiedBy>Shobit Garg</cp:lastModifiedBy>
  <cp:revision>2306</cp:revision>
  <dcterms:created xsi:type="dcterms:W3CDTF">2010-04-09T07:36:15Z</dcterms:created>
  <dcterms:modified xsi:type="dcterms:W3CDTF">2026-05-01T10:35:17Z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0x010100096F1BF43DDE004485E7A868D137D60A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2</vt:i4>
  </property>
  <property fmtid="{D5CDD505-2E9C-101B-9397-08002B2CF9AE}" pid="8" name="PresentationFormat">
    <vt:lpwstr>On-screen Show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15</vt:i4>
  </property>
</Properties>
</file>